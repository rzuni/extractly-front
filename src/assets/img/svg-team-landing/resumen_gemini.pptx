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nchorCtr="true"/>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z="2400"/>
              <a:t>Generado automáticamente por el sistema</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1270000" y="1270000"/>
            <a:ext cx="13716000" cy="6604000"/>
          </a:xfrm>
          <a:prstGeom prst="rect">
            <a:avLst/>
          </a:prstGeom>
        </p:spPr>
        <p:txBody>
          <a:bodyPr anchor="t" rtlCol="false"/>
          <a:lstStyle/>
          <a:p>
            <a:pPr algn="l">
              <a:defRPr/>
            </a:pPr>
            <a:r>
              <a:rPr lang="en-US"/>
              <a:t/>
            </a:r>
            <a:endParaRPr lang="en-US" sz="1100"/>
          </a:p>
          <a:p>
            <a:pPr algn="l">
              <a:spcAft>
                <a:spcPct val="10000"/>
              </a:spcAft>
            </a:pPr>
            <a:r>
              <a:rPr lang="en-US" sz="2400" b="false">
                <a:solidFill>
                  <a:srgbClr val="000000"/>
                </a:solidFill>
                <a:latin typeface="OpenSans"/>
              </a:rPr>
              <a:t>El documento "Mes premiers pas en français" es una guía para principiantes que desean aprender francés de forma autodidacta.  La guía se divide en ocho secciones principales que cubren aspectos fundamentales del idioma, proporcionando enlaces a recursos externos para apoyar el aprendizaje.</a:t>
            </a:r>
          </a:p>
          <a:p>
            <a:pPr algn="l">
              <a:spcAft>
                <a:spcPct val="10000"/>
              </a:spcAft>
            </a:pPr>
            <a:r>
              <a:rPr lang="en-US" sz="2400" b="false">
                <a:solidFill>
                  <a:srgbClr val="000000"/>
                </a:solidFill>
                <a:latin typeface="OpenSans"/>
              </a:rPr>
              <a:t/>
            </a:r>
          </a:p>
          <a:p>
            <a:pPr algn="l">
              <a:spcAft>
                <a:spcPct val="10000"/>
              </a:spcAft>
            </a:pPr>
            <a:r>
              <a:rPr lang="en-US" sz="2400" b="false">
                <a:solidFill>
                  <a:srgbClr val="000000"/>
                </a:solidFill>
                <a:latin typeface="OpenSans"/>
              </a:rPr>
              <a:t>Las secciones son:</a:t>
            </a:r>
          </a:p>
          <a:p>
            <a:pPr algn="l">
              <a:spcAft>
                <a:spcPct val="10000"/>
              </a:spcAft>
            </a:pPr>
            <a:r>
              <a:rPr lang="en-US" sz="2400" b="false">
                <a:solidFill>
                  <a:srgbClr val="000000"/>
                </a:solidFill>
                <a:latin typeface="OpenSans"/>
              </a:rPr>
              <a:t/>
            </a:r>
          </a:p>
          <a:p>
            <a:pPr algn="l">
              <a:spcAft>
                <a:spcPct val="10000"/>
              </a:spcAft>
            </a:pPr>
            <a:r>
              <a:rPr lang="en-US" sz="2400" b="false">
                <a:solidFill>
                  <a:srgbClr val="000000"/>
                </a:solidFill>
                <a:latin typeface="OpenSans"/>
              </a:rPr>
              <a:t>1.  **El sistema escolar francés:**  Ofrece enlaces a documentos que explican el sistema educativo francés y recursos para estudiantes recién llegados.</a:t>
            </a:r>
          </a:p>
          <a:p>
            <a:pPr algn="l">
              <a:spcAft>
                <a:spcPct val="10000"/>
              </a:spcAft>
            </a:pPr>
            <a:r>
              <a:rPr lang="en-US" sz="2400" b="false">
                <a:solidFill>
                  <a:srgbClr val="000000"/>
                </a:solidFill>
                <a:latin typeface="OpenSans"/>
              </a:rPr>
              <a:t>2.  **Se présenter et faire connaissance (Presentarse y conocerse):**  Proporciona enlaces a sitios web y ejercicios para aprender a presentarse, saludar y conocer gente, incluyendo recursos como Flenantes, Podcast Francais Facile y Le Point du FLE.</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1270000" y="1270000"/>
            <a:ext cx="13716000" cy="6604000"/>
          </a:xfrm>
          <a:prstGeom prst="rect">
            <a:avLst/>
          </a:prstGeom>
        </p:spPr>
        <p:txBody>
          <a:bodyPr anchor="t" rtlCol="false"/>
          <a:lstStyle/>
          <a:p>
            <a:pPr algn="l">
              <a:defRPr/>
            </a:pPr>
            <a:r>
              <a:rPr lang="en-US"/>
              <a:t/>
            </a:r>
            <a:endParaRPr lang="en-US" sz="1100"/>
          </a:p>
          <a:p>
            <a:pPr algn="l">
              <a:spcAft>
                <a:spcPct val="10000"/>
              </a:spcAft>
            </a:pPr>
            <a:r>
              <a:rPr lang="en-US" sz="2400" b="false">
                <a:solidFill>
                  <a:srgbClr val="000000"/>
                </a:solidFill>
                <a:latin typeface="OpenSans"/>
              </a:rPr>
              <a:t>3.  **Des activités et des loisirs (Actividades y pasatiempos):**  Presenta vocabulario relacionado con actividades y pasatiempos, con enlaces a Podcast Francais Facile y CLA Web.  Incluye una actividad práctica para expresar gustos y aversiones usando vocabulario ilustrado.</a:t>
            </a:r>
          </a:p>
          <a:p>
            <a:pPr algn="l">
              <a:spcAft>
                <a:spcPct val="10000"/>
              </a:spcAft>
            </a:pPr>
            <a:r>
              <a:rPr lang="en-US" sz="2400" b="false">
                <a:solidFill>
                  <a:srgbClr val="000000"/>
                </a:solidFill>
                <a:latin typeface="OpenSans"/>
              </a:rPr>
              <a:t>4.  **Des métiers (Oficios/Profesiones):**  Ayuda a aprender vocabulario relacionado con profesiones, enlazando a AFIP Velay Greta y Audio French, y pide al estudiante indicar a qué se quiere dedicar en el futuro tras presentar imágenes de diversas profesiones.</a:t>
            </a:r>
          </a:p>
          <a:p>
            <a:pPr algn="l">
              <a:spcAft>
                <a:spcPct val="10000"/>
              </a:spcAft>
            </a:pPr>
            <a:r>
              <a:rPr lang="en-US" sz="2400" b="false">
                <a:solidFill>
                  <a:srgbClr val="000000"/>
                </a:solidFill>
                <a:latin typeface="OpenSans"/>
              </a:rPr>
              <a:t>5.  **Compter et calculer (Contar y calcular):**  Ofrece recursos en línea, en particular lexiquefle.free.fr, para aprender a contar y realizar cálculos básicos en francés.</a:t>
            </a:r>
          </a:p>
          <a:p>
            <a:pPr algn="l">
              <a:spcAft>
                <a:spcPct val="10000"/>
              </a:spcAft>
            </a:pPr>
            <a:r>
              <a:rPr lang="en-US" sz="2400" b="false">
                <a:solidFill>
                  <a:srgbClr val="000000"/>
                </a:solidFill>
                <a:latin typeface="OpenSans"/>
              </a:rPr>
              <a:t>6.  **Se situer dans le temps (Situarse en el tiempo):** Proporciona enlaces a sitios web para aprender el vocabulario del tiempo (días, meses, estaciones, la hora), incluyendo lexiquefle.free.fr, audiofrench.com, y recursos de ac-strasbourg.fr.</a:t>
            </a:r>
          </a:p>
          <a:p>
            <a:pPr algn="l">
              <a:spcAft>
                <a:spcPct val="10000"/>
              </a:spcAft>
            </a:pPr>
            <a:r>
              <a:rPr lang="en-US" sz="2400" b="false">
                <a:solidFill>
                  <a:srgbClr val="000000"/>
                </a:solidFill>
                <a:latin typeface="OpenSans"/>
              </a:rPr>
              <a:t>7.  **Se préparer à l’école (Prepararse para la escuela):**  Ofrece vocabulario relacionado con la escuela, con enlaces a languageguide.org, audiofrench.com, y learningapps.org.</a:t>
            </a:r>
          </a:p>
          <a:p>
            <a:pPr algn="l">
              <a:spcAft>
                <a:spcPct val="10000"/>
              </a:spcAft>
            </a:pPr>
            <a:r>
              <a:rPr lang="en-US" sz="2400" b="false">
                <a:solidFill>
                  <a:srgbClr val="000000"/>
                </a:solidFill>
                <a:latin typeface="OpenSans"/>
              </a:rPr>
              <a:t>8.  **Lire et écrire (Leer y escribir):**  Se centra en aprender el alfabeto francés y habilidades básicas de lectura y escritura, enlazando a lexiquefle.free.fr y lepointdufle.net. Incluye ejercicios para relacionar mayúsculas y minúsculas e introduce sonidos básicos.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1270000" y="1270000"/>
            <a:ext cx="13716000" cy="6604000"/>
          </a:xfrm>
          <a:prstGeom prst="rect">
            <a:avLst/>
          </a:prstGeom>
        </p:spPr>
        <p:txBody>
          <a:bodyPr anchor="t" rtlCol="false"/>
          <a:lstStyle/>
          <a:p>
            <a:pPr algn="l">
              <a:defRPr/>
            </a:pPr>
            <a:r>
              <a:rPr lang="en-US"/>
              <a:t/>
            </a:r>
            <a:endParaRPr lang="en-US" sz="1100"/>
          </a:p>
          <a:p>
            <a:pPr algn="l">
              <a:spcAft>
                <a:spcPct val="10000"/>
              </a:spcAft>
            </a:pPr>
            <a:r>
              <a:rPr lang="en-US" sz="2400" b="false">
                <a:solidFill>
                  <a:srgbClr val="000000"/>
                </a:solidFill>
                <a:latin typeface="OpenSans"/>
              </a:rPr>
              <a:t/>
            </a:r>
          </a:p>
          <a:p>
            <a:pPr algn="l">
              <a:spcAft>
                <a:spcPct val="10000"/>
              </a:spcAft>
            </a:pPr>
            <a:r>
              <a:rPr lang="en-US" sz="2400" b="false">
                <a:solidFill>
                  <a:srgbClr val="000000"/>
                </a:solidFill>
                <a:latin typeface="OpenSans"/>
              </a:rPr>
              <a:t>En resumen, "Mes premiers pas en français" es una guía práctica para principiantes que utiliza enlaces web, actividades prácticas y vocabulario ilustrado para facilitar el aprendizaje autodidacta del francés, centrándose en vocabulario y habilidades básicas.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